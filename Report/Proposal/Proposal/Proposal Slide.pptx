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7" r:id="rId2"/>
    <p:sldId id="258" r:id="rId3"/>
    <p:sldId id="260" r:id="rId4"/>
    <p:sldId id="261" r:id="rId5"/>
    <p:sldId id="262" r:id="rId6"/>
    <p:sldId id="263" r:id="rId7"/>
    <p:sldId id="264" r:id="rId8"/>
    <p:sldId id="265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4" autoAdjust="0"/>
    <p:restoredTop sz="94660"/>
  </p:normalViewPr>
  <p:slideViewPr>
    <p:cSldViewPr snapToGrid="0">
      <p:cViewPr varScale="1">
        <p:scale>
          <a:sx n="78" d="100"/>
          <a:sy n="78" d="100"/>
        </p:scale>
        <p:origin x="42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F016D1-F74D-4DFE-A6F1-6F03F60D74AD}" type="datetimeFigureOut">
              <a:rPr lang="en-GB" smtClean="0"/>
              <a:t>12/03/2019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7B793D-A404-4B92-A20E-F6429902517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93134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7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717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9FAB052-41F2-4BAB-8A98-AC6BB7899491}" type="slidenum">
              <a:rPr lang="en-GB" altLang="en-US" smtClean="0"/>
              <a:pPr/>
              <a:t>1</a:t>
            </a:fld>
            <a:endParaRPr lang="en-GB" altLang="en-US" smtClean="0"/>
          </a:p>
        </p:txBody>
      </p:sp>
    </p:spTree>
    <p:extLst>
      <p:ext uri="{BB962C8B-B14F-4D97-AF65-F5344CB8AC3E}">
        <p14:creationId xmlns:p14="http://schemas.microsoft.com/office/powerpoint/2010/main" val="37646531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497" tIns="47748" rIns="95497" bIns="47748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1BE90880-4B3B-450D-BE5E-05600B2485A9}" type="slidenum">
              <a:rPr lang="en-GB" altLang="en-US" sz="1300"/>
              <a:pPr algn="r" eaLnBrk="1" hangingPunct="1">
                <a:spcBef>
                  <a:spcPct val="0"/>
                </a:spcBef>
              </a:pPr>
              <a:t>6</a:t>
            </a:fld>
            <a:endParaRPr lang="en-GB" altLang="en-US" sz="1300"/>
          </a:p>
        </p:txBody>
      </p:sp>
      <p:sp>
        <p:nvSpPr>
          <p:cNvPr id="225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497" tIns="47748" rIns="95497" bIns="47748"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49245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497" tIns="47748" rIns="95497" bIns="47748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86187838-0E81-44FF-A6A5-8E427FD1AE51}" type="slidenum">
              <a:rPr lang="en-GB" altLang="en-US" sz="1300"/>
              <a:pPr algn="r" eaLnBrk="1" hangingPunct="1">
                <a:spcBef>
                  <a:spcPct val="0"/>
                </a:spcBef>
              </a:pPr>
              <a:t>8</a:t>
            </a:fld>
            <a:endParaRPr lang="en-GB" altLang="en-US" sz="1300"/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497" tIns="47748" rIns="95497" bIns="47748"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10897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© 2018-19</a:t>
            </a:r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University of Greenwich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FF8A9-A7D0-483E-A455-478BEB008C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71214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© 2018-19</a:t>
            </a:r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University of Greenwich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FF8A9-A7D0-483E-A455-478BEB008C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13294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© 2018-19</a:t>
            </a:r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University of Greenwich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FF8A9-A7D0-483E-A455-478BEB008C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668842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© 2018-19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University of Greenwich</a:t>
            </a:r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FF8A9-A7D0-483E-A455-478BEB008C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58321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© 2018-19</a:t>
            </a:r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University of Greenwich</a:t>
            </a:r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FF8A9-A7D0-483E-A455-478BEB008C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419175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© 2018-19</a:t>
            </a:r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University of Greenwich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FF8A9-A7D0-483E-A455-478BEB008C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86526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© 2018-19</a:t>
            </a:r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University of Greenwich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FF8A9-A7D0-483E-A455-478BEB008C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56381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© 2018-19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University of Greenwich</a:t>
            </a:r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FF8A9-A7D0-483E-A455-478BEB008C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05518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© 2018-19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University of Greenwich</a:t>
            </a:r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FF8A9-A7D0-483E-A455-478BEB008C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14812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© 2018-19</a:t>
            </a:r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University of Greenwich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FF8A9-A7D0-483E-A455-478BEB008C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17768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© 2018-19</a:t>
            </a:r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University of Greenwich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FF8A9-A7D0-483E-A455-478BEB008C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231338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© 2018-19</a:t>
            </a:r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 smtClean="0"/>
              <a:t>University of Greenwich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8FF8A9-A7D0-483E-A455-478BEB008C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68698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d.parrish.dial.pipex.com/smart.html" TargetMode="External"/><Relationship Id="rId2" Type="http://schemas.openxmlformats.org/officeDocument/2006/relationships/hyperlink" Target="http://www.rapidbi.com/created/WriteSMARTobjectives.html" TargetMode="Externa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9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2782888" y="1196975"/>
            <a:ext cx="6781800" cy="3235176"/>
          </a:xfrm>
        </p:spPr>
        <p:txBody>
          <a:bodyPr anchor="b">
            <a:normAutofit/>
          </a:bodyPr>
          <a:lstStyle/>
          <a:p>
            <a:pPr algn="ctr" eaLnBrk="1" hangingPunct="1"/>
            <a:r>
              <a:rPr lang="en-GB" altLang="en-US" sz="5500" dirty="0">
                <a:solidFill>
                  <a:srgbClr val="0070C0"/>
                </a:solidFill>
              </a:rPr>
              <a:t>Your </a:t>
            </a:r>
            <a:r>
              <a:rPr lang="en-GB" altLang="en-US" sz="5500" dirty="0" smtClean="0">
                <a:solidFill>
                  <a:srgbClr val="0070C0"/>
                </a:solidFill>
              </a:rPr>
              <a:t>Project Proposal</a:t>
            </a:r>
            <a:br>
              <a:rPr lang="en-GB" altLang="en-US" sz="5500" dirty="0" smtClean="0">
                <a:solidFill>
                  <a:srgbClr val="0070C0"/>
                </a:solidFill>
              </a:rPr>
            </a:br>
            <a:r>
              <a:rPr lang="en-GB" altLang="en-US" sz="5500" dirty="0" smtClean="0">
                <a:solidFill>
                  <a:srgbClr val="0070C0"/>
                </a:solidFill>
              </a:rPr>
              <a:t/>
            </a:r>
            <a:br>
              <a:rPr lang="en-GB" altLang="en-US" sz="5500" dirty="0" smtClean="0">
                <a:solidFill>
                  <a:srgbClr val="0070C0"/>
                </a:solidFill>
              </a:rPr>
            </a:br>
            <a:r>
              <a:rPr lang="en-GB" altLang="en-US" b="1" i="1" dirty="0" smtClean="0">
                <a:solidFill>
                  <a:srgbClr val="0070C0"/>
                </a:solidFill>
              </a:rPr>
              <a:t>Initial thoughts</a:t>
            </a:r>
            <a:endParaRPr lang="en-GB" altLang="en-US" b="1" i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35667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smtClean="0">
                <a:solidFill>
                  <a:srgbClr val="0070C0"/>
                </a:solidFill>
              </a:rPr>
              <a:t>What should a proposal address</a:t>
            </a:r>
            <a:endParaRPr lang="en-GB" b="1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GB" sz="3900" b="1" dirty="0" smtClean="0"/>
              <a:t>Start with a narrative (a one-pager) that will explain the following:</a:t>
            </a:r>
          </a:p>
          <a:p>
            <a:pPr marL="0" indent="0">
              <a:buNone/>
            </a:pPr>
            <a:endParaRPr lang="en-GB" sz="2000" b="1" dirty="0" smtClean="0"/>
          </a:p>
          <a:p>
            <a:r>
              <a:rPr lang="en-GB" sz="2000" b="1" dirty="0" smtClean="0"/>
              <a:t>WHAT</a:t>
            </a:r>
            <a:r>
              <a:rPr lang="en-GB" sz="2000" dirty="0" smtClean="0"/>
              <a:t> </a:t>
            </a:r>
            <a:r>
              <a:rPr lang="en-GB" sz="2000" dirty="0"/>
              <a:t>the project is about and what </a:t>
            </a:r>
            <a:r>
              <a:rPr lang="en-GB" sz="2000" b="1" dirty="0"/>
              <a:t>precisely</a:t>
            </a:r>
            <a:r>
              <a:rPr lang="en-GB" sz="2000" dirty="0"/>
              <a:t> you aim to deliver (product, outcome)</a:t>
            </a:r>
          </a:p>
          <a:p>
            <a:endParaRPr lang="en-GB" sz="2000" dirty="0"/>
          </a:p>
          <a:p>
            <a:r>
              <a:rPr lang="en-GB" sz="2000" b="1" dirty="0"/>
              <a:t>WHERE</a:t>
            </a:r>
            <a:r>
              <a:rPr lang="en-GB" sz="2000" dirty="0"/>
              <a:t> (i.e. context) - an organisation? a broader open user base problem? </a:t>
            </a:r>
            <a:r>
              <a:rPr lang="en-GB" sz="2000" dirty="0" err="1"/>
              <a:t>Etc</a:t>
            </a:r>
            <a:r>
              <a:rPr lang="en-GB" sz="2000" dirty="0"/>
              <a:t>…  </a:t>
            </a:r>
          </a:p>
          <a:p>
            <a:endParaRPr lang="en-GB" sz="2000" b="1" dirty="0"/>
          </a:p>
          <a:p>
            <a:r>
              <a:rPr lang="en-GB" sz="2000" b="1" dirty="0"/>
              <a:t>WHY</a:t>
            </a:r>
            <a:r>
              <a:rPr lang="en-GB" sz="2000" dirty="0"/>
              <a:t> it is useful, interesting and worth doing (i.e. the motivation)</a:t>
            </a:r>
          </a:p>
          <a:p>
            <a:endParaRPr lang="en-GB" sz="2000" b="1" dirty="0"/>
          </a:p>
          <a:p>
            <a:r>
              <a:rPr lang="en-GB" sz="2000" b="1" dirty="0"/>
              <a:t>HOW</a:t>
            </a:r>
            <a:r>
              <a:rPr lang="en-GB" sz="2000" dirty="0"/>
              <a:t> they intend to deliver it: where will you find the data, how will you collect it, how do you intend to analyse it (e.g. methodology)</a:t>
            </a:r>
          </a:p>
          <a:p>
            <a:endParaRPr lang="en-GB" sz="2000" b="1" dirty="0"/>
          </a:p>
          <a:p>
            <a:r>
              <a:rPr lang="en-GB" sz="2000" b="1" dirty="0"/>
              <a:t>SO WHAT? </a:t>
            </a:r>
            <a:r>
              <a:rPr lang="en-GB" sz="2000" dirty="0"/>
              <a:t>what they see their contribution will be? How it will make things better and for whom</a:t>
            </a:r>
            <a:r>
              <a:rPr lang="en-GB" sz="2000" dirty="0" smtClean="0"/>
              <a:t>?</a:t>
            </a:r>
          </a:p>
          <a:p>
            <a:endParaRPr lang="en-GB" sz="2000" dirty="0"/>
          </a:p>
          <a:p>
            <a:r>
              <a:rPr lang="en-GB" sz="2000" dirty="0" smtClean="0"/>
              <a:t>(most important) </a:t>
            </a:r>
            <a:r>
              <a:rPr lang="en-GB" sz="2000" b="1" dirty="0" smtClean="0"/>
              <a:t>A TABLE OF INITIAL REFERENCES</a:t>
            </a:r>
            <a:r>
              <a:rPr lang="en-GB" sz="2000" dirty="0" smtClean="0"/>
              <a:t> the journal articles</a:t>
            </a:r>
            <a:r>
              <a:rPr lang="en-GB" sz="2000" dirty="0"/>
              <a:t> </a:t>
            </a:r>
            <a:r>
              <a:rPr lang="en-GB" sz="2000" dirty="0" smtClean="0"/>
              <a:t>and other resources you have used for your proposal </a:t>
            </a:r>
            <a:r>
              <a:rPr lang="en-GB" sz="2000" b="1" dirty="0" smtClean="0">
                <a:solidFill>
                  <a:srgbClr val="FF0000"/>
                </a:solidFill>
              </a:rPr>
              <a:t>(no Wikipedia or blogs PLEASE!!!)</a:t>
            </a:r>
            <a:endParaRPr lang="en-GB" sz="2000" b="1" dirty="0">
              <a:solidFill>
                <a:srgbClr val="FF0000"/>
              </a:solidFill>
            </a:endParaRPr>
          </a:p>
          <a:p>
            <a:endParaRPr lang="en-GB" sz="2000" dirty="0"/>
          </a:p>
          <a:p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813956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 dirty="0">
                <a:solidFill>
                  <a:srgbClr val="0070C0"/>
                </a:solidFill>
              </a:rPr>
              <a:t>Once you have </a:t>
            </a:r>
            <a:r>
              <a:rPr lang="en-GB" b="1" u="sng" dirty="0">
                <a:solidFill>
                  <a:srgbClr val="0070C0"/>
                </a:solidFill>
              </a:rPr>
              <a:t>done</a:t>
            </a:r>
            <a:r>
              <a:rPr lang="en-GB" b="1" dirty="0">
                <a:solidFill>
                  <a:srgbClr val="0070C0"/>
                </a:solidFill>
              </a:rPr>
              <a:t> the above…</a:t>
            </a: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1124174" y="1838325"/>
            <a:ext cx="10139082" cy="43703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altLang="en-US" b="1" dirty="0" smtClean="0"/>
              <a:t>Start using the template…</a:t>
            </a:r>
          </a:p>
          <a:p>
            <a:pPr lvl="1"/>
            <a:r>
              <a:rPr lang="en-GB" altLang="en-US" sz="2500" dirty="0" smtClean="0"/>
              <a:t>Use the template headings</a:t>
            </a:r>
          </a:p>
          <a:p>
            <a:pPr lvl="1"/>
            <a:r>
              <a:rPr lang="en-GB" altLang="en-US" sz="2500" dirty="0" smtClean="0"/>
              <a:t>Read the placeholder text</a:t>
            </a:r>
          </a:p>
          <a:p>
            <a:pPr lvl="2"/>
            <a:r>
              <a:rPr lang="en-GB" altLang="en-US" sz="2100" dirty="0" smtClean="0"/>
              <a:t>this provides some guidance for completing the proposal</a:t>
            </a:r>
          </a:p>
          <a:p>
            <a:pPr lvl="1"/>
            <a:r>
              <a:rPr lang="en-GB" altLang="en-US" sz="2500" dirty="0" smtClean="0"/>
              <a:t>Replace the placeholder text with your content</a:t>
            </a:r>
          </a:p>
          <a:p>
            <a:pPr lvl="2"/>
            <a:r>
              <a:rPr lang="en-GB" altLang="en-US" sz="2100" dirty="0" smtClean="0"/>
              <a:t>lose the square brackets</a:t>
            </a:r>
          </a:p>
          <a:p>
            <a:pPr lvl="1"/>
            <a:endParaRPr lang="en-GB" altLang="en-US" sz="2500" dirty="0"/>
          </a:p>
          <a:p>
            <a:r>
              <a:rPr lang="en-GB" altLang="en-US" sz="2900" b="1" i="1" dirty="0" smtClean="0">
                <a:solidFill>
                  <a:srgbClr val="FF0000"/>
                </a:solidFill>
              </a:rPr>
              <a:t>Remember a template is just a template…it’s what goes in there that is important..</a:t>
            </a:r>
          </a:p>
          <a:p>
            <a:endParaRPr lang="en-GB" altLang="en-US" sz="2900" dirty="0"/>
          </a:p>
        </p:txBody>
      </p:sp>
    </p:spTree>
    <p:extLst>
      <p:ext uri="{BB962C8B-B14F-4D97-AF65-F5344CB8AC3E}">
        <p14:creationId xmlns:p14="http://schemas.microsoft.com/office/powerpoint/2010/main" val="27498158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7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>
            <a:normAutofit/>
          </a:bodyPr>
          <a:lstStyle/>
          <a:p>
            <a:r>
              <a:rPr lang="en-GB" altLang="en-US" b="1" dirty="0">
                <a:solidFill>
                  <a:srgbClr val="0070C0"/>
                </a:solidFill>
              </a:rPr>
              <a:t>The Overview</a:t>
            </a:r>
          </a:p>
        </p:txBody>
      </p:sp>
      <p:sp>
        <p:nvSpPr>
          <p:cNvPr id="2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GB" altLang="en-US" dirty="0" smtClean="0"/>
              <a:t>Sets the scene for your proposal</a:t>
            </a:r>
          </a:p>
          <a:p>
            <a:pPr eaLnBrk="1" hangingPunct="1">
              <a:lnSpc>
                <a:spcPct val="90000"/>
              </a:lnSpc>
            </a:pPr>
            <a:r>
              <a:rPr lang="en-GB" altLang="en-US" dirty="0" smtClean="0"/>
              <a:t>Write a very quick draft</a:t>
            </a:r>
          </a:p>
          <a:p>
            <a:pPr lvl="1" eaLnBrk="1" hangingPunct="1">
              <a:lnSpc>
                <a:spcPct val="90000"/>
              </a:lnSpc>
            </a:pPr>
            <a:r>
              <a:rPr lang="en-GB" altLang="en-US" dirty="0" smtClean="0"/>
              <a:t>re-write after you have written the rest of proposal</a:t>
            </a:r>
          </a:p>
          <a:p>
            <a:pPr eaLnBrk="1" hangingPunct="1">
              <a:lnSpc>
                <a:spcPct val="90000"/>
              </a:lnSpc>
            </a:pPr>
            <a:r>
              <a:rPr lang="en-GB" altLang="en-US" dirty="0" smtClean="0"/>
              <a:t>Then reduce to a single sentence - your </a:t>
            </a:r>
            <a:r>
              <a:rPr lang="en-GB" altLang="en-US" b="1" dirty="0" smtClean="0"/>
              <a:t>AIM</a:t>
            </a:r>
          </a:p>
          <a:p>
            <a:pPr lvl="1" eaLnBrk="1" hangingPunct="1">
              <a:lnSpc>
                <a:spcPct val="90000"/>
              </a:lnSpc>
            </a:pPr>
            <a:r>
              <a:rPr lang="en-GB" altLang="en-US" dirty="0" smtClean="0"/>
              <a:t>this is somewhere between your Title and your Overview</a:t>
            </a:r>
          </a:p>
          <a:p>
            <a:pPr lvl="1" eaLnBrk="1" hangingPunct="1">
              <a:lnSpc>
                <a:spcPct val="90000"/>
              </a:lnSpc>
            </a:pPr>
            <a:r>
              <a:rPr lang="en-GB" altLang="en-US" dirty="0" smtClean="0"/>
              <a:t>provides a high level encapsulation of your aspirations</a:t>
            </a:r>
          </a:p>
        </p:txBody>
      </p:sp>
    </p:spTree>
    <p:extLst>
      <p:ext uri="{BB962C8B-B14F-4D97-AF65-F5344CB8AC3E}">
        <p14:creationId xmlns:p14="http://schemas.microsoft.com/office/powerpoint/2010/main" val="28103698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5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992313" y="260350"/>
            <a:ext cx="8229600" cy="865188"/>
          </a:xfrm>
        </p:spPr>
        <p:txBody>
          <a:bodyPr>
            <a:normAutofit/>
          </a:bodyPr>
          <a:lstStyle/>
          <a:p>
            <a:pPr eaLnBrk="1" hangingPunct="1"/>
            <a:r>
              <a:rPr lang="en-GB" altLang="en-US" b="1" dirty="0">
                <a:solidFill>
                  <a:srgbClr val="0070C0"/>
                </a:solidFill>
              </a:rPr>
              <a:t>Objectives</a:t>
            </a:r>
          </a:p>
        </p:txBody>
      </p:sp>
      <p:sp>
        <p:nvSpPr>
          <p:cNvPr id="20486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981200" y="1196976"/>
            <a:ext cx="8229600" cy="5184775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en-GB" altLang="en-US" sz="2400"/>
              <a:t>the </a:t>
            </a:r>
            <a:r>
              <a:rPr lang="en-GB" altLang="en-US" sz="2400" b="1">
                <a:solidFill>
                  <a:srgbClr val="0000CC"/>
                </a:solidFill>
              </a:rPr>
              <a:t>SMART</a:t>
            </a:r>
            <a:r>
              <a:rPr lang="en-GB" altLang="en-US" sz="2400"/>
              <a:t> acronym reminds you that objectives must be: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GB" altLang="en-US" sz="2400"/>
          </a:p>
          <a:p>
            <a:pPr eaLnBrk="1" hangingPunct="1">
              <a:lnSpc>
                <a:spcPct val="110000"/>
              </a:lnSpc>
            </a:pPr>
            <a:r>
              <a:rPr lang="en-GB" altLang="en-US" sz="2000"/>
              <a:t> </a:t>
            </a:r>
            <a:r>
              <a:rPr lang="en-GB" altLang="en-US" sz="2400" b="1">
                <a:solidFill>
                  <a:srgbClr val="FF0000"/>
                </a:solidFill>
              </a:rPr>
              <a:t>S</a:t>
            </a:r>
            <a:r>
              <a:rPr lang="en-GB" altLang="en-US" sz="2400">
                <a:solidFill>
                  <a:srgbClr val="0000CC"/>
                </a:solidFill>
              </a:rPr>
              <a:t>pecific</a:t>
            </a:r>
            <a:r>
              <a:rPr lang="en-GB" altLang="en-US" sz="2000"/>
              <a:t> – An Objective can't be vague – be specific</a:t>
            </a:r>
          </a:p>
          <a:p>
            <a:pPr eaLnBrk="1" hangingPunct="1">
              <a:lnSpc>
                <a:spcPct val="110000"/>
              </a:lnSpc>
            </a:pPr>
            <a:r>
              <a:rPr lang="en-GB" altLang="en-US" sz="2000"/>
              <a:t> </a:t>
            </a:r>
            <a:r>
              <a:rPr lang="en-GB" altLang="en-US" sz="2400" b="1">
                <a:solidFill>
                  <a:srgbClr val="FF0000"/>
                </a:solidFill>
              </a:rPr>
              <a:t>M</a:t>
            </a:r>
            <a:r>
              <a:rPr lang="en-GB" altLang="en-US" sz="2400">
                <a:solidFill>
                  <a:srgbClr val="0000CC"/>
                </a:solidFill>
              </a:rPr>
              <a:t>easurable</a:t>
            </a:r>
            <a:r>
              <a:rPr lang="en-GB" altLang="en-US" sz="2000"/>
              <a:t> - Define a method of measuring the objective so you know when it is achieved</a:t>
            </a:r>
          </a:p>
          <a:p>
            <a:pPr eaLnBrk="1" hangingPunct="1">
              <a:lnSpc>
                <a:spcPct val="110000"/>
              </a:lnSpc>
            </a:pPr>
            <a:r>
              <a:rPr lang="en-GB" altLang="en-US" sz="2000"/>
              <a:t> </a:t>
            </a:r>
            <a:r>
              <a:rPr lang="en-GB" altLang="en-US" sz="2400" b="1">
                <a:solidFill>
                  <a:srgbClr val="FF0000"/>
                </a:solidFill>
              </a:rPr>
              <a:t>A</a:t>
            </a:r>
            <a:r>
              <a:rPr lang="en-GB" altLang="en-US" sz="2400">
                <a:solidFill>
                  <a:srgbClr val="0000CC"/>
                </a:solidFill>
              </a:rPr>
              <a:t>greed-To/Achievable</a:t>
            </a:r>
            <a:r>
              <a:rPr lang="en-GB" altLang="en-US" sz="2000"/>
              <a:t> - you and your supervisor need to agree to the objective, and it also must be do-able</a:t>
            </a:r>
          </a:p>
          <a:p>
            <a:pPr eaLnBrk="1" hangingPunct="1">
              <a:lnSpc>
                <a:spcPct val="110000"/>
              </a:lnSpc>
            </a:pPr>
            <a:r>
              <a:rPr lang="en-GB" altLang="en-US" sz="2000"/>
              <a:t> </a:t>
            </a:r>
            <a:r>
              <a:rPr lang="en-GB" altLang="en-US" sz="2400" b="1">
                <a:solidFill>
                  <a:srgbClr val="FF0000"/>
                </a:solidFill>
              </a:rPr>
              <a:t>R</a:t>
            </a:r>
            <a:r>
              <a:rPr lang="en-GB" altLang="en-US" sz="2400">
                <a:solidFill>
                  <a:srgbClr val="0000CC"/>
                </a:solidFill>
              </a:rPr>
              <a:t>ealistic/Rewarding</a:t>
            </a:r>
            <a:r>
              <a:rPr lang="en-GB" altLang="en-US" sz="2000"/>
              <a:t> - It must be a realistic objective, and it must make sense to do it </a:t>
            </a:r>
          </a:p>
          <a:p>
            <a:pPr eaLnBrk="1" hangingPunct="1">
              <a:lnSpc>
                <a:spcPct val="110000"/>
              </a:lnSpc>
            </a:pPr>
            <a:r>
              <a:rPr lang="en-GB" altLang="en-US" sz="2000"/>
              <a:t> </a:t>
            </a:r>
            <a:r>
              <a:rPr lang="en-GB" altLang="en-US" sz="2400" b="1">
                <a:solidFill>
                  <a:srgbClr val="FF0000"/>
                </a:solidFill>
              </a:rPr>
              <a:t>T</a:t>
            </a:r>
            <a:r>
              <a:rPr lang="en-GB" altLang="en-US" sz="2400">
                <a:solidFill>
                  <a:srgbClr val="0000CC"/>
                </a:solidFill>
              </a:rPr>
              <a:t>ime-related</a:t>
            </a:r>
            <a:r>
              <a:rPr lang="en-GB" altLang="en-US" sz="2000"/>
              <a:t> - without a schedule and due date, it will just keep going, and going, and going...</a:t>
            </a:r>
          </a:p>
          <a:p>
            <a:pPr eaLnBrk="1" hangingPunct="1">
              <a:lnSpc>
                <a:spcPct val="80000"/>
              </a:lnSpc>
            </a:pPr>
            <a:endParaRPr lang="en-GB" altLang="en-US" sz="2000"/>
          </a:p>
          <a:p>
            <a:pPr algn="r" eaLnBrk="1" hangingPunct="1">
              <a:lnSpc>
                <a:spcPct val="80000"/>
              </a:lnSpc>
              <a:buFontTx/>
              <a:buNone/>
            </a:pPr>
            <a:r>
              <a:rPr lang="en-GB" altLang="en-US" sz="2000"/>
              <a:t>see </a:t>
            </a:r>
            <a:r>
              <a:rPr lang="en-GB" altLang="en-US" sz="2200">
                <a:hlinkClick r:id="rId2"/>
              </a:rPr>
              <a:t>rapidbi 2008</a:t>
            </a:r>
            <a:r>
              <a:rPr lang="en-GB" altLang="en-US" sz="2200"/>
              <a:t>, </a:t>
            </a:r>
            <a:r>
              <a:rPr lang="en-GB" altLang="en-US" sz="2200">
                <a:hlinkClick r:id="rId3"/>
              </a:rPr>
              <a:t>parrish 2008</a:t>
            </a:r>
            <a:r>
              <a:rPr lang="en-GB" altLang="en-US" sz="2200"/>
              <a:t> etc.</a:t>
            </a:r>
            <a:endParaRPr lang="en-GB" altLang="en-US" sz="3700"/>
          </a:p>
        </p:txBody>
      </p:sp>
    </p:spTree>
    <p:extLst>
      <p:ext uri="{BB962C8B-B14F-4D97-AF65-F5344CB8AC3E}">
        <p14:creationId xmlns:p14="http://schemas.microsoft.com/office/powerpoint/2010/main" val="6941801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9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 anchor="b">
            <a:normAutofit/>
          </a:bodyPr>
          <a:lstStyle/>
          <a:p>
            <a:pPr eaLnBrk="1" hangingPunct="1"/>
            <a:r>
              <a:rPr lang="en-GB" altLang="en-US" b="1" dirty="0">
                <a:solidFill>
                  <a:srgbClr val="0070C0"/>
                </a:solidFill>
              </a:rPr>
              <a:t>What should you do now?</a:t>
            </a:r>
          </a:p>
        </p:txBody>
      </p:sp>
      <p:sp>
        <p:nvSpPr>
          <p:cNvPr id="21510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marL="571500" indent="-571500"/>
            <a:r>
              <a:rPr lang="en-GB" altLang="en-US" dirty="0" smtClean="0"/>
              <a:t>Set objectives then tasks for your project</a:t>
            </a:r>
          </a:p>
          <a:p>
            <a:pPr marL="914400" lvl="1" indent="-457200"/>
            <a:r>
              <a:rPr lang="en-GB" altLang="en-US" dirty="0" smtClean="0"/>
              <a:t>Four general objectives</a:t>
            </a:r>
          </a:p>
          <a:p>
            <a:pPr marL="1295400" lvl="2" indent="-381000">
              <a:buFont typeface="Wingdings" panose="05000000000000000000" pitchFamily="2" charset="2"/>
              <a:buAutoNum type="arabicPeriod"/>
            </a:pPr>
            <a:r>
              <a:rPr lang="en-GB" altLang="en-US" sz="2800" b="1" dirty="0"/>
              <a:t> </a:t>
            </a:r>
            <a:r>
              <a:rPr lang="en-GB" altLang="en-US" sz="2800" b="1" dirty="0" smtClean="0">
                <a:solidFill>
                  <a:srgbClr val="0000CC"/>
                </a:solidFill>
              </a:rPr>
              <a:t>A </a:t>
            </a:r>
            <a:r>
              <a:rPr lang="en-GB" altLang="en-US" sz="2800" b="1" dirty="0">
                <a:solidFill>
                  <a:srgbClr val="0000CC"/>
                </a:solidFill>
              </a:rPr>
              <a:t>Research Report</a:t>
            </a:r>
          </a:p>
          <a:p>
            <a:pPr marL="1295400" lvl="2" indent="-381000">
              <a:buFont typeface="Wingdings" panose="05000000000000000000" pitchFamily="2" charset="2"/>
              <a:buAutoNum type="arabicPeriod"/>
            </a:pPr>
            <a:r>
              <a:rPr lang="en-GB" altLang="en-US" sz="2800" b="1" dirty="0"/>
              <a:t> </a:t>
            </a:r>
            <a:r>
              <a:rPr lang="en-GB" altLang="en-US" sz="2800" b="1" dirty="0">
                <a:solidFill>
                  <a:srgbClr val="0000CC"/>
                </a:solidFill>
              </a:rPr>
              <a:t>A Product Design</a:t>
            </a:r>
          </a:p>
          <a:p>
            <a:pPr marL="1295400" lvl="2" indent="-381000">
              <a:buFont typeface="Wingdings" panose="05000000000000000000" pitchFamily="2" charset="2"/>
              <a:buAutoNum type="arabicPeriod"/>
            </a:pPr>
            <a:r>
              <a:rPr lang="en-GB" altLang="en-US" sz="2800" b="1" dirty="0"/>
              <a:t> </a:t>
            </a:r>
            <a:r>
              <a:rPr lang="en-GB" altLang="en-US" sz="2800" b="1" dirty="0">
                <a:solidFill>
                  <a:srgbClr val="0000CC"/>
                </a:solidFill>
              </a:rPr>
              <a:t>A Product</a:t>
            </a:r>
            <a:endParaRPr lang="en-GB" altLang="en-US" sz="2800" b="1" dirty="0">
              <a:solidFill>
                <a:srgbClr val="204AB2"/>
              </a:solidFill>
            </a:endParaRPr>
          </a:p>
          <a:p>
            <a:pPr marL="1295400" lvl="2" indent="-381000">
              <a:buFont typeface="Wingdings" panose="05000000000000000000" pitchFamily="2" charset="2"/>
              <a:buAutoNum type="arabicPeriod"/>
            </a:pPr>
            <a:r>
              <a:rPr lang="en-GB" altLang="en-US" sz="2800" b="1" dirty="0" smtClean="0">
                <a:solidFill>
                  <a:srgbClr val="0000CC"/>
                </a:solidFill>
              </a:rPr>
              <a:t>Evaluation </a:t>
            </a:r>
            <a:r>
              <a:rPr lang="en-GB" altLang="en-US" sz="2800" b="1" dirty="0">
                <a:solidFill>
                  <a:srgbClr val="0000CC"/>
                </a:solidFill>
              </a:rPr>
              <a:t>and </a:t>
            </a:r>
            <a:r>
              <a:rPr lang="en-GB" altLang="en-US" sz="2800" b="1" dirty="0" smtClean="0">
                <a:solidFill>
                  <a:srgbClr val="0000CC"/>
                </a:solidFill>
              </a:rPr>
              <a:t>Reflection</a:t>
            </a:r>
            <a:endParaRPr lang="en-GB" altLang="en-US" sz="2800" dirty="0"/>
          </a:p>
          <a:p>
            <a:pPr marL="571500" indent="-571500"/>
            <a:r>
              <a:rPr lang="en-GB" altLang="en-US" dirty="0" smtClean="0"/>
              <a:t>These can be usefully broken down into more specific objectives</a:t>
            </a:r>
          </a:p>
        </p:txBody>
      </p:sp>
    </p:spTree>
    <p:extLst>
      <p:ext uri="{BB962C8B-B14F-4D97-AF65-F5344CB8AC3E}">
        <p14:creationId xmlns:p14="http://schemas.microsoft.com/office/powerpoint/2010/main" val="9279857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7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992313" y="260351"/>
            <a:ext cx="8229600" cy="936625"/>
          </a:xfrm>
        </p:spPr>
        <p:txBody>
          <a:bodyPr>
            <a:normAutofit/>
          </a:bodyPr>
          <a:lstStyle/>
          <a:p>
            <a:pPr eaLnBrk="1" hangingPunct="1"/>
            <a:r>
              <a:rPr lang="en-GB" altLang="en-US" b="1" dirty="0">
                <a:solidFill>
                  <a:srgbClr val="0070C0"/>
                </a:solidFill>
              </a:rPr>
              <a:t>Tasks and deliverables</a:t>
            </a:r>
          </a:p>
        </p:txBody>
      </p:sp>
      <p:sp>
        <p:nvSpPr>
          <p:cNvPr id="10244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981200" y="1268414"/>
            <a:ext cx="8229600" cy="5113337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en-GB" altLang="en-US" sz="2400" dirty="0">
                <a:sym typeface="Wingdings" panose="05000000000000000000" pitchFamily="2" charset="2"/>
              </a:rPr>
              <a:t>What is your objective going to deliver?</a:t>
            </a:r>
          </a:p>
          <a:p>
            <a:pPr lvl="1" eaLnBrk="1" hangingPunct="1">
              <a:lnSpc>
                <a:spcPct val="90000"/>
              </a:lnSpc>
            </a:pPr>
            <a:r>
              <a:rPr lang="en-GB" altLang="en-US" sz="1800" dirty="0">
                <a:sym typeface="Wingdings" panose="05000000000000000000" pitchFamily="2" charset="2"/>
              </a:rPr>
              <a:t>section of report (e.g. chapter on design)</a:t>
            </a:r>
          </a:p>
          <a:p>
            <a:pPr lvl="1" eaLnBrk="1" hangingPunct="1">
              <a:lnSpc>
                <a:spcPct val="90000"/>
              </a:lnSpc>
            </a:pPr>
            <a:r>
              <a:rPr lang="en-GB" altLang="en-US" sz="1800" dirty="0">
                <a:sym typeface="Wingdings" panose="05000000000000000000" pitchFamily="2" charset="2"/>
              </a:rPr>
              <a:t>something for appendix (e.g. ERD, storyboard, questionnaire, test plan)</a:t>
            </a:r>
          </a:p>
          <a:p>
            <a:pPr lvl="1" eaLnBrk="1" hangingPunct="1">
              <a:lnSpc>
                <a:spcPct val="90000"/>
              </a:lnSpc>
            </a:pPr>
            <a:r>
              <a:rPr lang="en-GB" altLang="en-US" sz="1800" dirty="0">
                <a:sym typeface="Wingdings" panose="05000000000000000000" pitchFamily="2" charset="2"/>
              </a:rPr>
              <a:t>part of product (e.g. prototype, database, coding, xml structure)</a:t>
            </a:r>
          </a:p>
          <a:p>
            <a:pPr eaLnBrk="1" hangingPunct="1">
              <a:lnSpc>
                <a:spcPct val="90000"/>
              </a:lnSpc>
            </a:pPr>
            <a:r>
              <a:rPr lang="en-GB" altLang="en-US" sz="2400" dirty="0">
                <a:sym typeface="Wingdings" panose="05000000000000000000" pitchFamily="2" charset="2"/>
              </a:rPr>
              <a:t>Break down objectives in defined activities (</a:t>
            </a:r>
            <a:r>
              <a:rPr lang="en-GB" altLang="en-US" sz="2400" b="1" dirty="0">
                <a:sym typeface="Wingdings" panose="05000000000000000000" pitchFamily="2" charset="2"/>
              </a:rPr>
              <a:t>tasks</a:t>
            </a:r>
            <a:r>
              <a:rPr lang="en-GB" altLang="en-US" sz="2400" dirty="0">
                <a:sym typeface="Wingdings" panose="05000000000000000000" pitchFamily="2" charset="2"/>
              </a:rPr>
              <a:t>)</a:t>
            </a:r>
          </a:p>
          <a:p>
            <a:pPr lvl="1" eaLnBrk="1" hangingPunct="1">
              <a:lnSpc>
                <a:spcPct val="90000"/>
              </a:lnSpc>
            </a:pPr>
            <a:r>
              <a:rPr lang="en-GB" altLang="en-US" sz="1800" dirty="0">
                <a:sym typeface="Wingdings" panose="05000000000000000000" pitchFamily="2" charset="2"/>
              </a:rPr>
              <a:t>e.g. research usability design for websites</a:t>
            </a:r>
          </a:p>
          <a:p>
            <a:pPr lvl="2" eaLnBrk="1" hangingPunct="1">
              <a:lnSpc>
                <a:spcPct val="90000"/>
              </a:lnSpc>
            </a:pPr>
            <a:r>
              <a:rPr lang="en-GB" altLang="en-US" sz="1400" dirty="0" smtClean="0">
                <a:sym typeface="Wingdings" panose="05000000000000000000" pitchFamily="2" charset="2"/>
              </a:rPr>
              <a:t>Identify and research resources on </a:t>
            </a:r>
            <a:r>
              <a:rPr lang="en-GB" altLang="en-US" sz="1400" dirty="0">
                <a:sym typeface="Wingdings" panose="05000000000000000000" pitchFamily="2" charset="2"/>
              </a:rPr>
              <a:t>HCI</a:t>
            </a:r>
          </a:p>
          <a:p>
            <a:pPr lvl="2" eaLnBrk="1" hangingPunct="1">
              <a:lnSpc>
                <a:spcPct val="90000"/>
              </a:lnSpc>
            </a:pPr>
            <a:r>
              <a:rPr lang="en-GB" altLang="en-US" sz="1400" dirty="0" smtClean="0">
                <a:sym typeface="Wingdings" panose="05000000000000000000" pitchFamily="2" charset="2"/>
              </a:rPr>
              <a:t>Identify relevant case </a:t>
            </a:r>
            <a:r>
              <a:rPr lang="en-GB" altLang="en-US" sz="1400" dirty="0">
                <a:sym typeface="Wingdings" panose="05000000000000000000" pitchFamily="2" charset="2"/>
              </a:rPr>
              <a:t>studies in journals</a:t>
            </a:r>
          </a:p>
          <a:p>
            <a:pPr lvl="2" eaLnBrk="1" hangingPunct="1">
              <a:lnSpc>
                <a:spcPct val="90000"/>
              </a:lnSpc>
            </a:pPr>
            <a:r>
              <a:rPr lang="en-GB" altLang="en-US" sz="1400" dirty="0">
                <a:sym typeface="Wingdings" panose="05000000000000000000" pitchFamily="2" charset="2"/>
              </a:rPr>
              <a:t>review websites on usability design</a:t>
            </a:r>
          </a:p>
          <a:p>
            <a:pPr lvl="2" eaLnBrk="1" hangingPunct="1">
              <a:lnSpc>
                <a:spcPct val="90000"/>
              </a:lnSpc>
            </a:pPr>
            <a:r>
              <a:rPr lang="en-GB" altLang="en-US" sz="1400" dirty="0">
                <a:sym typeface="Wingdings" panose="05000000000000000000" pitchFamily="2" charset="2"/>
              </a:rPr>
              <a:t>interview web designers</a:t>
            </a:r>
          </a:p>
          <a:p>
            <a:pPr lvl="1" eaLnBrk="1" hangingPunct="1">
              <a:lnSpc>
                <a:spcPct val="90000"/>
              </a:lnSpc>
            </a:pPr>
            <a:r>
              <a:rPr lang="en-GB" altLang="en-US" sz="1800" dirty="0">
                <a:sym typeface="Wingdings" panose="05000000000000000000" pitchFamily="2" charset="2"/>
              </a:rPr>
              <a:t>e.g. compare similar products</a:t>
            </a:r>
          </a:p>
          <a:p>
            <a:pPr lvl="2" eaLnBrk="1" hangingPunct="1">
              <a:lnSpc>
                <a:spcPct val="90000"/>
              </a:lnSpc>
            </a:pPr>
            <a:r>
              <a:rPr lang="en-GB" altLang="en-US" sz="1400" dirty="0">
                <a:sym typeface="Wingdings" panose="05000000000000000000" pitchFamily="2" charset="2"/>
              </a:rPr>
              <a:t>… how would this activity break down? </a:t>
            </a:r>
          </a:p>
          <a:p>
            <a:pPr eaLnBrk="1" hangingPunct="1">
              <a:lnSpc>
                <a:spcPct val="90000"/>
              </a:lnSpc>
            </a:pPr>
            <a:r>
              <a:rPr lang="en-GB" altLang="en-US" sz="2400" dirty="0" smtClean="0">
                <a:sym typeface="Wingdings" panose="05000000000000000000" pitchFamily="2" charset="2"/>
              </a:rPr>
              <a:t>decompose </a:t>
            </a:r>
            <a:r>
              <a:rPr lang="en-GB" altLang="en-US" sz="2400" dirty="0">
                <a:sym typeface="Wingdings" panose="05000000000000000000" pitchFamily="2" charset="2"/>
              </a:rPr>
              <a:t>objectives and activities </a:t>
            </a:r>
            <a:r>
              <a:rPr lang="en-GB" altLang="en-US" sz="2400" dirty="0" smtClean="0">
                <a:sym typeface="Wingdings" panose="05000000000000000000" pitchFamily="2" charset="2"/>
              </a:rPr>
              <a:t>to more </a:t>
            </a:r>
            <a:r>
              <a:rPr lang="en-GB" altLang="en-US" sz="2400" dirty="0">
                <a:sym typeface="Wingdings" panose="05000000000000000000" pitchFamily="2" charset="2"/>
              </a:rPr>
              <a:t>accurately </a:t>
            </a:r>
            <a:r>
              <a:rPr lang="en-GB" altLang="en-US" sz="2400" dirty="0" smtClean="0">
                <a:sym typeface="Wingdings" panose="05000000000000000000" pitchFamily="2" charset="2"/>
              </a:rPr>
              <a:t>control </a:t>
            </a:r>
            <a:r>
              <a:rPr lang="en-GB" altLang="en-US" sz="2400" dirty="0">
                <a:sym typeface="Wingdings" panose="05000000000000000000" pitchFamily="2" charset="2"/>
              </a:rPr>
              <a:t>your </a:t>
            </a:r>
            <a:r>
              <a:rPr lang="en-GB" altLang="en-US" sz="2400" dirty="0" smtClean="0">
                <a:sym typeface="Wingdings" panose="05000000000000000000" pitchFamily="2" charset="2"/>
              </a:rPr>
              <a:t>project</a:t>
            </a:r>
          </a:p>
          <a:p>
            <a:pPr lvl="1"/>
            <a:r>
              <a:rPr lang="en-GB" altLang="en-US" sz="2000" i="1" dirty="0" smtClean="0">
                <a:sym typeface="Wingdings" panose="05000000000000000000" pitchFamily="2" charset="2"/>
              </a:rPr>
              <a:t>..but do not overdo it, or it will become an exercise on its own right (and you DON’T want that)</a:t>
            </a:r>
            <a:endParaRPr lang="en-GB" altLang="en-US" sz="2000" i="1" dirty="0">
              <a:sym typeface="Wingdings" panose="05000000000000000000" pitchFamily="2" charset="2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GB" altLang="en-US" sz="1800" dirty="0">
                <a:sym typeface="Wingdings" panose="05000000000000000000" pitchFamily="2" charset="2"/>
              </a:rPr>
              <a:t> </a:t>
            </a:r>
          </a:p>
          <a:p>
            <a:pPr lvl="1" eaLnBrk="1" hangingPunct="1">
              <a:lnSpc>
                <a:spcPct val="80000"/>
              </a:lnSpc>
            </a:pPr>
            <a:endParaRPr lang="en-GB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3279755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1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 anchor="b"/>
          <a:lstStyle/>
          <a:p>
            <a:pPr eaLnBrk="1" hangingPunct="1"/>
            <a:r>
              <a:rPr lang="en-GB" altLang="en-US" b="1" dirty="0" smtClean="0">
                <a:solidFill>
                  <a:srgbClr val="0070C0"/>
                </a:solidFill>
              </a:rPr>
              <a:t>What should you do now?</a:t>
            </a:r>
          </a:p>
        </p:txBody>
      </p:sp>
      <p:sp>
        <p:nvSpPr>
          <p:cNvPr id="2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981200" y="1767877"/>
            <a:ext cx="8229600" cy="4103688"/>
          </a:xfrm>
        </p:spPr>
        <p:txBody>
          <a:bodyPr/>
          <a:lstStyle/>
          <a:p>
            <a:pPr marL="571500" indent="-571500">
              <a:defRPr/>
            </a:pPr>
            <a:r>
              <a:rPr lang="en-GB" sz="2400" dirty="0"/>
              <a:t>Collect as much information as you can about your project</a:t>
            </a:r>
          </a:p>
          <a:p>
            <a:pPr marL="914400" lvl="1" indent="-457200">
              <a:defRPr/>
            </a:pPr>
            <a:r>
              <a:rPr lang="en-GB" sz="2000" dirty="0"/>
              <a:t> </a:t>
            </a:r>
            <a:r>
              <a:rPr lang="en-GB" dirty="0" smtClean="0"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G</a:t>
            </a:r>
            <a:r>
              <a:rPr lang="en-GB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o</a:t>
            </a:r>
            <a:r>
              <a:rPr lang="en-GB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o</a:t>
            </a:r>
            <a:r>
              <a:rPr lang="en-GB" dirty="0" smtClean="0">
                <a:solidFill>
                  <a:srgbClr val="33CC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g</a:t>
            </a:r>
            <a:r>
              <a:rPr lang="en-GB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l</a:t>
            </a:r>
            <a:r>
              <a:rPr lang="en-GB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e</a:t>
            </a:r>
            <a:r>
              <a:rPr lang="en-GB" sz="12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Arial" charset="0"/>
              </a:rPr>
              <a:t>™</a:t>
            </a:r>
            <a:r>
              <a:rPr lang="en-GB" sz="2000" dirty="0"/>
              <a:t> makes this sort of thing so easy</a:t>
            </a:r>
          </a:p>
          <a:p>
            <a:pPr marL="914400" lvl="1" indent="-457200">
              <a:defRPr/>
            </a:pPr>
            <a:r>
              <a:rPr lang="en-GB" sz="2000" dirty="0"/>
              <a:t>make sure that you have bothered to conduct at least a preliminary web search</a:t>
            </a:r>
          </a:p>
          <a:p>
            <a:pPr marL="571500" indent="-571500">
              <a:defRPr/>
            </a:pPr>
            <a:r>
              <a:rPr lang="en-GB" sz="2400" dirty="0"/>
              <a:t>Write a </a:t>
            </a:r>
            <a:r>
              <a:rPr lang="en-GB" sz="2400" b="1" dirty="0"/>
              <a:t>draft</a:t>
            </a:r>
            <a:r>
              <a:rPr lang="en-GB" sz="2400" dirty="0"/>
              <a:t> project proposal based on your plan so far and what you know</a:t>
            </a:r>
          </a:p>
          <a:p>
            <a:pPr marL="914400" lvl="1" indent="-457200">
              <a:defRPr/>
            </a:pPr>
            <a:r>
              <a:rPr lang="en-GB" sz="2000" dirty="0"/>
              <a:t>a proposal template is provided – use </a:t>
            </a:r>
            <a:r>
              <a:rPr lang="en-GB" sz="2000" dirty="0" smtClean="0"/>
              <a:t>it </a:t>
            </a:r>
            <a:r>
              <a:rPr lang="en-GB" sz="2000" b="1" dirty="0" smtClean="0"/>
              <a:t>AFTER you do your draft narrative</a:t>
            </a:r>
            <a:endParaRPr lang="en-GB" sz="2000" dirty="0"/>
          </a:p>
          <a:p>
            <a:pPr marL="571500" indent="-571500">
              <a:defRPr/>
            </a:pPr>
            <a:r>
              <a:rPr lang="en-GB" sz="2400" dirty="0" smtClean="0"/>
              <a:t>Show </a:t>
            </a:r>
            <a:r>
              <a:rPr lang="en-GB" sz="2400" dirty="0"/>
              <a:t>it to your supervisors this </a:t>
            </a:r>
            <a:r>
              <a:rPr lang="en-GB" sz="2400" dirty="0" smtClean="0"/>
              <a:t>week!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32615447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493</Words>
  <Application>Microsoft Office PowerPoint</Application>
  <PresentationFormat>Widescreen</PresentationFormat>
  <Paragraphs>75</Paragraphs>
  <Slides>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Calibri Light</vt:lpstr>
      <vt:lpstr>Times New Roman</vt:lpstr>
      <vt:lpstr>Wingdings</vt:lpstr>
      <vt:lpstr>Office Theme</vt:lpstr>
      <vt:lpstr>Your Project Proposal  Initial thoughts</vt:lpstr>
      <vt:lpstr>What should a proposal address</vt:lpstr>
      <vt:lpstr>Once you have done the above…</vt:lpstr>
      <vt:lpstr>The Overview</vt:lpstr>
      <vt:lpstr>Objectives</vt:lpstr>
      <vt:lpstr>What should you do now?</vt:lpstr>
      <vt:lpstr>Tasks and deliverables</vt:lpstr>
      <vt:lpstr>What should you do now?</vt:lpstr>
    </vt:vector>
  </TitlesOfParts>
  <Company>University of Greenwich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Your Project Proposal  Initial thoughts</dc:title>
  <dc:creator>Georgios Samakovitis</dc:creator>
  <cp:lastModifiedBy>Keeran Jamil</cp:lastModifiedBy>
  <cp:revision>4</cp:revision>
  <dcterms:created xsi:type="dcterms:W3CDTF">2018-10-08T10:42:37Z</dcterms:created>
  <dcterms:modified xsi:type="dcterms:W3CDTF">2019-03-12T11:26:40Z</dcterms:modified>
</cp:coreProperties>
</file>